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7" r:id="rId7"/>
    <p:sldId id="272" r:id="rId8"/>
    <p:sldId id="273" r:id="rId9"/>
    <p:sldId id="274" r:id="rId10"/>
    <p:sldId id="275" r:id="rId11"/>
    <p:sldId id="267" r:id="rId12"/>
    <p:sldId id="269" r:id="rId13"/>
    <p:sldId id="268" r:id="rId14"/>
    <p:sldId id="270" r:id="rId15"/>
    <p:sldId id="259" r:id="rId16"/>
    <p:sldId id="260" r:id="rId17"/>
    <p:sldId id="261" r:id="rId18"/>
    <p:sldId id="262" r:id="rId19"/>
    <p:sldId id="263" r:id="rId20"/>
    <p:sldId id="271" r:id="rId21"/>
    <p:sldId id="276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30CE1-FC71-4172-8CCC-A1E79705EAFB}" v="43" dt="2026-01-15T09:12:15.079"/>
    <p1510:client id="{E4E55032-0005-4B31-A215-D12CB2307AE3}" v="1138" dt="2026-01-14T23:16:53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28D06B-6BBA-4253-A47F-09FF04787CA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AA2141-1AFD-4400-B498-B933C05C0DDA}">
      <dgm:prSet/>
      <dgm:spPr/>
      <dgm:t>
        <a:bodyPr/>
        <a:lstStyle/>
        <a:p>
          <a:r>
            <a:rPr lang="en-US" noProof="0"/>
            <a:t>Study mosquitoes' populations</a:t>
          </a:r>
        </a:p>
      </dgm:t>
    </dgm:pt>
    <dgm:pt modelId="{ABECD73C-EE8F-4BA7-A728-76D122D8F438}" type="parTrans" cxnId="{4AAE5D35-1BF8-420E-8DBA-B4AD2E262F28}">
      <dgm:prSet/>
      <dgm:spPr/>
      <dgm:t>
        <a:bodyPr/>
        <a:lstStyle/>
        <a:p>
          <a:endParaRPr lang="en-US"/>
        </a:p>
      </dgm:t>
    </dgm:pt>
    <dgm:pt modelId="{FDB80C6E-05AD-4BE3-BD4F-279B3C2282FC}" type="sibTrans" cxnId="{4AAE5D35-1BF8-420E-8DBA-B4AD2E262F28}">
      <dgm:prSet/>
      <dgm:spPr/>
      <dgm:t>
        <a:bodyPr/>
        <a:lstStyle/>
        <a:p>
          <a:endParaRPr lang="en-US"/>
        </a:p>
      </dgm:t>
    </dgm:pt>
    <dgm:pt modelId="{4D0F0A40-163D-458C-88DB-5F5AA3968A61}">
      <dgm:prSet/>
      <dgm:spPr/>
      <dgm:t>
        <a:bodyPr/>
        <a:lstStyle/>
        <a:p>
          <a:r>
            <a:rPr lang="en-US" noProof="0"/>
            <a:t>Understand the behavior of different species</a:t>
          </a:r>
        </a:p>
      </dgm:t>
    </dgm:pt>
    <dgm:pt modelId="{3A476724-C68B-4B8A-A248-02415E48EAFD}" type="parTrans" cxnId="{6D6ED538-1240-4D80-A8CD-E5073DF47632}">
      <dgm:prSet/>
      <dgm:spPr/>
      <dgm:t>
        <a:bodyPr/>
        <a:lstStyle/>
        <a:p>
          <a:endParaRPr lang="en-US"/>
        </a:p>
      </dgm:t>
    </dgm:pt>
    <dgm:pt modelId="{8C3B7636-2971-4F7C-BE49-7B713BC6BAF0}" type="sibTrans" cxnId="{6D6ED538-1240-4D80-A8CD-E5073DF47632}">
      <dgm:prSet/>
      <dgm:spPr/>
      <dgm:t>
        <a:bodyPr/>
        <a:lstStyle/>
        <a:p>
          <a:endParaRPr lang="en-US"/>
        </a:p>
      </dgm:t>
    </dgm:pt>
    <dgm:pt modelId="{8F5E6D06-07A0-405C-BC5A-55B94DD6D9B7}">
      <dgm:prSet/>
      <dgm:spPr/>
      <dgm:t>
        <a:bodyPr/>
        <a:lstStyle/>
        <a:p>
          <a:r>
            <a:rPr lang="en-US" noProof="0"/>
            <a:t>Help researchers</a:t>
          </a:r>
        </a:p>
      </dgm:t>
    </dgm:pt>
    <dgm:pt modelId="{E430D5F4-5F95-48EF-AFE7-D146159574FC}" type="parTrans" cxnId="{14FED188-48EB-487F-96F1-7D433DE938C7}">
      <dgm:prSet/>
      <dgm:spPr/>
      <dgm:t>
        <a:bodyPr/>
        <a:lstStyle/>
        <a:p>
          <a:endParaRPr lang="en-US"/>
        </a:p>
      </dgm:t>
    </dgm:pt>
    <dgm:pt modelId="{978484B5-F386-4821-B837-C716BCDA34E4}" type="sibTrans" cxnId="{14FED188-48EB-487F-96F1-7D433DE938C7}">
      <dgm:prSet/>
      <dgm:spPr/>
      <dgm:t>
        <a:bodyPr/>
        <a:lstStyle/>
        <a:p>
          <a:endParaRPr lang="en-US"/>
        </a:p>
      </dgm:t>
    </dgm:pt>
    <dgm:pt modelId="{5C9525BE-C5FD-4B50-B42B-93B00C59B80B}">
      <dgm:prSet/>
      <dgm:spPr/>
      <dgm:t>
        <a:bodyPr/>
        <a:lstStyle/>
        <a:p>
          <a:r>
            <a:rPr lang="en-US" noProof="0"/>
            <a:t>Multiple benefits for global health</a:t>
          </a:r>
        </a:p>
      </dgm:t>
    </dgm:pt>
    <dgm:pt modelId="{92FFF9AA-BDD7-423F-B655-C3CAE4642C3A}" type="parTrans" cxnId="{A4157451-789B-4FA8-A2D0-AAD7197325DA}">
      <dgm:prSet/>
      <dgm:spPr/>
      <dgm:t>
        <a:bodyPr/>
        <a:lstStyle/>
        <a:p>
          <a:endParaRPr lang="en-US"/>
        </a:p>
      </dgm:t>
    </dgm:pt>
    <dgm:pt modelId="{8811EAA0-2092-4F27-A56D-DD33C482EC55}" type="sibTrans" cxnId="{A4157451-789B-4FA8-A2D0-AAD7197325DA}">
      <dgm:prSet/>
      <dgm:spPr/>
      <dgm:t>
        <a:bodyPr/>
        <a:lstStyle/>
        <a:p>
          <a:endParaRPr lang="en-US"/>
        </a:p>
      </dgm:t>
    </dgm:pt>
    <dgm:pt modelId="{C6923298-2822-4C4E-91B8-D78D7B6CABDD}" type="pres">
      <dgm:prSet presAssocID="{E328D06B-6BBA-4253-A47F-09FF04787CAF}" presName="vert0" presStyleCnt="0">
        <dgm:presLayoutVars>
          <dgm:dir/>
          <dgm:animOne val="branch"/>
          <dgm:animLvl val="lvl"/>
        </dgm:presLayoutVars>
      </dgm:prSet>
      <dgm:spPr/>
    </dgm:pt>
    <dgm:pt modelId="{A38482A0-07BF-4DC9-B201-7A72E5FFD57B}" type="pres">
      <dgm:prSet presAssocID="{29AA2141-1AFD-4400-B498-B933C05C0DDA}" presName="thickLine" presStyleLbl="alignNode1" presStyleIdx="0" presStyleCnt="4"/>
      <dgm:spPr/>
    </dgm:pt>
    <dgm:pt modelId="{C1C5BC2D-4BB0-48D1-B870-008A4D146283}" type="pres">
      <dgm:prSet presAssocID="{29AA2141-1AFD-4400-B498-B933C05C0DDA}" presName="horz1" presStyleCnt="0"/>
      <dgm:spPr/>
    </dgm:pt>
    <dgm:pt modelId="{57BBE371-0568-4A89-A295-D826EF4FB12E}" type="pres">
      <dgm:prSet presAssocID="{29AA2141-1AFD-4400-B498-B933C05C0DDA}" presName="tx1" presStyleLbl="revTx" presStyleIdx="0" presStyleCnt="4"/>
      <dgm:spPr/>
    </dgm:pt>
    <dgm:pt modelId="{05ABFB2E-55A2-4F49-BE5A-806BC063E698}" type="pres">
      <dgm:prSet presAssocID="{29AA2141-1AFD-4400-B498-B933C05C0DDA}" presName="vert1" presStyleCnt="0"/>
      <dgm:spPr/>
    </dgm:pt>
    <dgm:pt modelId="{212C82C5-4F0C-4711-BFA2-B272A1793815}" type="pres">
      <dgm:prSet presAssocID="{4D0F0A40-163D-458C-88DB-5F5AA3968A61}" presName="thickLine" presStyleLbl="alignNode1" presStyleIdx="1" presStyleCnt="4"/>
      <dgm:spPr/>
    </dgm:pt>
    <dgm:pt modelId="{674A1472-6BBE-472A-ABEA-F097C5291882}" type="pres">
      <dgm:prSet presAssocID="{4D0F0A40-163D-458C-88DB-5F5AA3968A61}" presName="horz1" presStyleCnt="0"/>
      <dgm:spPr/>
    </dgm:pt>
    <dgm:pt modelId="{F94C4959-5347-411B-93B0-5827D3CDC5C6}" type="pres">
      <dgm:prSet presAssocID="{4D0F0A40-163D-458C-88DB-5F5AA3968A61}" presName="tx1" presStyleLbl="revTx" presStyleIdx="1" presStyleCnt="4"/>
      <dgm:spPr/>
    </dgm:pt>
    <dgm:pt modelId="{98A7E696-C293-4963-AF78-A32F130F6B75}" type="pres">
      <dgm:prSet presAssocID="{4D0F0A40-163D-458C-88DB-5F5AA3968A61}" presName="vert1" presStyleCnt="0"/>
      <dgm:spPr/>
    </dgm:pt>
    <dgm:pt modelId="{F59B1189-FEE6-489B-9253-2777360DBA47}" type="pres">
      <dgm:prSet presAssocID="{8F5E6D06-07A0-405C-BC5A-55B94DD6D9B7}" presName="thickLine" presStyleLbl="alignNode1" presStyleIdx="2" presStyleCnt="4"/>
      <dgm:spPr/>
    </dgm:pt>
    <dgm:pt modelId="{42495D36-5245-4C19-A772-1579BEE12B91}" type="pres">
      <dgm:prSet presAssocID="{8F5E6D06-07A0-405C-BC5A-55B94DD6D9B7}" presName="horz1" presStyleCnt="0"/>
      <dgm:spPr/>
    </dgm:pt>
    <dgm:pt modelId="{D6B0EA88-EC5B-4A62-BD41-C94DCFAB2CE3}" type="pres">
      <dgm:prSet presAssocID="{8F5E6D06-07A0-405C-BC5A-55B94DD6D9B7}" presName="tx1" presStyleLbl="revTx" presStyleIdx="2" presStyleCnt="4"/>
      <dgm:spPr/>
    </dgm:pt>
    <dgm:pt modelId="{F19D1B6B-13BB-4C30-BBAC-59AC3350C471}" type="pres">
      <dgm:prSet presAssocID="{8F5E6D06-07A0-405C-BC5A-55B94DD6D9B7}" presName="vert1" presStyleCnt="0"/>
      <dgm:spPr/>
    </dgm:pt>
    <dgm:pt modelId="{539D610E-6E7A-44D1-B55A-BE6D6A056997}" type="pres">
      <dgm:prSet presAssocID="{5C9525BE-C5FD-4B50-B42B-93B00C59B80B}" presName="thickLine" presStyleLbl="alignNode1" presStyleIdx="3" presStyleCnt="4"/>
      <dgm:spPr/>
    </dgm:pt>
    <dgm:pt modelId="{907EC305-FDA5-4BA8-B457-81C901595F0A}" type="pres">
      <dgm:prSet presAssocID="{5C9525BE-C5FD-4B50-B42B-93B00C59B80B}" presName="horz1" presStyleCnt="0"/>
      <dgm:spPr/>
    </dgm:pt>
    <dgm:pt modelId="{B5BBEDB0-17C4-436F-A662-020531746AFF}" type="pres">
      <dgm:prSet presAssocID="{5C9525BE-C5FD-4B50-B42B-93B00C59B80B}" presName="tx1" presStyleLbl="revTx" presStyleIdx="3" presStyleCnt="4"/>
      <dgm:spPr/>
    </dgm:pt>
    <dgm:pt modelId="{BFEF4A91-BF7D-4351-B70C-314A1A104CED}" type="pres">
      <dgm:prSet presAssocID="{5C9525BE-C5FD-4B50-B42B-93B00C59B80B}" presName="vert1" presStyleCnt="0"/>
      <dgm:spPr/>
    </dgm:pt>
  </dgm:ptLst>
  <dgm:cxnLst>
    <dgm:cxn modelId="{81A4871D-E22C-4C27-89EA-F8CD43040089}" type="presOf" srcId="{5C9525BE-C5FD-4B50-B42B-93B00C59B80B}" destId="{B5BBEDB0-17C4-436F-A662-020531746AFF}" srcOrd="0" destOrd="0" presId="urn:microsoft.com/office/officeart/2008/layout/LinedList"/>
    <dgm:cxn modelId="{4AAE5D35-1BF8-420E-8DBA-B4AD2E262F28}" srcId="{E328D06B-6BBA-4253-A47F-09FF04787CAF}" destId="{29AA2141-1AFD-4400-B498-B933C05C0DDA}" srcOrd="0" destOrd="0" parTransId="{ABECD73C-EE8F-4BA7-A728-76D122D8F438}" sibTransId="{FDB80C6E-05AD-4BE3-BD4F-279B3C2282FC}"/>
    <dgm:cxn modelId="{6D6ED538-1240-4D80-A8CD-E5073DF47632}" srcId="{E328D06B-6BBA-4253-A47F-09FF04787CAF}" destId="{4D0F0A40-163D-458C-88DB-5F5AA3968A61}" srcOrd="1" destOrd="0" parTransId="{3A476724-C68B-4B8A-A248-02415E48EAFD}" sibTransId="{8C3B7636-2971-4F7C-BE49-7B713BC6BAF0}"/>
    <dgm:cxn modelId="{92A38F4F-191E-4B52-8055-5B536C3DD2CA}" type="presOf" srcId="{E328D06B-6BBA-4253-A47F-09FF04787CAF}" destId="{C6923298-2822-4C4E-91B8-D78D7B6CABDD}" srcOrd="0" destOrd="0" presId="urn:microsoft.com/office/officeart/2008/layout/LinedList"/>
    <dgm:cxn modelId="{A4157451-789B-4FA8-A2D0-AAD7197325DA}" srcId="{E328D06B-6BBA-4253-A47F-09FF04787CAF}" destId="{5C9525BE-C5FD-4B50-B42B-93B00C59B80B}" srcOrd="3" destOrd="0" parTransId="{92FFF9AA-BDD7-423F-B655-C3CAE4642C3A}" sibTransId="{8811EAA0-2092-4F27-A56D-DD33C482EC55}"/>
    <dgm:cxn modelId="{E75FDE51-B361-440A-88CA-2005A842C492}" type="presOf" srcId="{4D0F0A40-163D-458C-88DB-5F5AA3968A61}" destId="{F94C4959-5347-411B-93B0-5827D3CDC5C6}" srcOrd="0" destOrd="0" presId="urn:microsoft.com/office/officeart/2008/layout/LinedList"/>
    <dgm:cxn modelId="{14FED188-48EB-487F-96F1-7D433DE938C7}" srcId="{E328D06B-6BBA-4253-A47F-09FF04787CAF}" destId="{8F5E6D06-07A0-405C-BC5A-55B94DD6D9B7}" srcOrd="2" destOrd="0" parTransId="{E430D5F4-5F95-48EF-AFE7-D146159574FC}" sibTransId="{978484B5-F386-4821-B837-C716BCDA34E4}"/>
    <dgm:cxn modelId="{6B0A5DB7-21FF-4C26-BC9C-EFE0720DFAD7}" type="presOf" srcId="{8F5E6D06-07A0-405C-BC5A-55B94DD6D9B7}" destId="{D6B0EA88-EC5B-4A62-BD41-C94DCFAB2CE3}" srcOrd="0" destOrd="0" presId="urn:microsoft.com/office/officeart/2008/layout/LinedList"/>
    <dgm:cxn modelId="{EF7C47DC-B8F9-49FA-81BD-D419E9E0E933}" type="presOf" srcId="{29AA2141-1AFD-4400-B498-B933C05C0DDA}" destId="{57BBE371-0568-4A89-A295-D826EF4FB12E}" srcOrd="0" destOrd="0" presId="urn:microsoft.com/office/officeart/2008/layout/LinedList"/>
    <dgm:cxn modelId="{4A1B9726-5FA6-4BC1-8BAF-A971A5726C06}" type="presParOf" srcId="{C6923298-2822-4C4E-91B8-D78D7B6CABDD}" destId="{A38482A0-07BF-4DC9-B201-7A72E5FFD57B}" srcOrd="0" destOrd="0" presId="urn:microsoft.com/office/officeart/2008/layout/LinedList"/>
    <dgm:cxn modelId="{0E9D7971-EF3B-430F-9C4D-22BA220C23CD}" type="presParOf" srcId="{C6923298-2822-4C4E-91B8-D78D7B6CABDD}" destId="{C1C5BC2D-4BB0-48D1-B870-008A4D146283}" srcOrd="1" destOrd="0" presId="urn:microsoft.com/office/officeart/2008/layout/LinedList"/>
    <dgm:cxn modelId="{E904519C-C93A-42D0-B403-696067CE397F}" type="presParOf" srcId="{C1C5BC2D-4BB0-48D1-B870-008A4D146283}" destId="{57BBE371-0568-4A89-A295-D826EF4FB12E}" srcOrd="0" destOrd="0" presId="urn:microsoft.com/office/officeart/2008/layout/LinedList"/>
    <dgm:cxn modelId="{6BE903CB-F557-4BE9-B03D-F37322D7D21B}" type="presParOf" srcId="{C1C5BC2D-4BB0-48D1-B870-008A4D146283}" destId="{05ABFB2E-55A2-4F49-BE5A-806BC063E698}" srcOrd="1" destOrd="0" presId="urn:microsoft.com/office/officeart/2008/layout/LinedList"/>
    <dgm:cxn modelId="{4CB1BC84-8BA6-45B4-A366-EC19BFCC6155}" type="presParOf" srcId="{C6923298-2822-4C4E-91B8-D78D7B6CABDD}" destId="{212C82C5-4F0C-4711-BFA2-B272A1793815}" srcOrd="2" destOrd="0" presId="urn:microsoft.com/office/officeart/2008/layout/LinedList"/>
    <dgm:cxn modelId="{49DFECB5-311D-4670-89E5-8BDDC7E40CF0}" type="presParOf" srcId="{C6923298-2822-4C4E-91B8-D78D7B6CABDD}" destId="{674A1472-6BBE-472A-ABEA-F097C5291882}" srcOrd="3" destOrd="0" presId="urn:microsoft.com/office/officeart/2008/layout/LinedList"/>
    <dgm:cxn modelId="{913BA56D-5117-4D7E-AB6A-6B10E8F1A660}" type="presParOf" srcId="{674A1472-6BBE-472A-ABEA-F097C5291882}" destId="{F94C4959-5347-411B-93B0-5827D3CDC5C6}" srcOrd="0" destOrd="0" presId="urn:microsoft.com/office/officeart/2008/layout/LinedList"/>
    <dgm:cxn modelId="{C4B708B6-7A13-4EE9-99EE-2FDB0B6C5D86}" type="presParOf" srcId="{674A1472-6BBE-472A-ABEA-F097C5291882}" destId="{98A7E696-C293-4963-AF78-A32F130F6B75}" srcOrd="1" destOrd="0" presId="urn:microsoft.com/office/officeart/2008/layout/LinedList"/>
    <dgm:cxn modelId="{81298C67-6666-45F2-8D69-AA52FE6BAE05}" type="presParOf" srcId="{C6923298-2822-4C4E-91B8-D78D7B6CABDD}" destId="{F59B1189-FEE6-489B-9253-2777360DBA47}" srcOrd="4" destOrd="0" presId="urn:microsoft.com/office/officeart/2008/layout/LinedList"/>
    <dgm:cxn modelId="{D8A91BD4-A8D5-4670-A0C7-2F626130691E}" type="presParOf" srcId="{C6923298-2822-4C4E-91B8-D78D7B6CABDD}" destId="{42495D36-5245-4C19-A772-1579BEE12B91}" srcOrd="5" destOrd="0" presId="urn:microsoft.com/office/officeart/2008/layout/LinedList"/>
    <dgm:cxn modelId="{60DE8FD0-F84A-4D88-BF80-AEB6BE2BF686}" type="presParOf" srcId="{42495D36-5245-4C19-A772-1579BEE12B91}" destId="{D6B0EA88-EC5B-4A62-BD41-C94DCFAB2CE3}" srcOrd="0" destOrd="0" presId="urn:microsoft.com/office/officeart/2008/layout/LinedList"/>
    <dgm:cxn modelId="{CD91884B-AA52-41D9-A17D-09722453BF21}" type="presParOf" srcId="{42495D36-5245-4C19-A772-1579BEE12B91}" destId="{F19D1B6B-13BB-4C30-BBAC-59AC3350C471}" srcOrd="1" destOrd="0" presId="urn:microsoft.com/office/officeart/2008/layout/LinedList"/>
    <dgm:cxn modelId="{46567AEE-A0C9-441B-A772-1C416B3F8000}" type="presParOf" srcId="{C6923298-2822-4C4E-91B8-D78D7B6CABDD}" destId="{539D610E-6E7A-44D1-B55A-BE6D6A056997}" srcOrd="6" destOrd="0" presId="urn:microsoft.com/office/officeart/2008/layout/LinedList"/>
    <dgm:cxn modelId="{337A021D-1DD3-4993-B26C-92916245453E}" type="presParOf" srcId="{C6923298-2822-4C4E-91B8-D78D7B6CABDD}" destId="{907EC305-FDA5-4BA8-B457-81C901595F0A}" srcOrd="7" destOrd="0" presId="urn:microsoft.com/office/officeart/2008/layout/LinedList"/>
    <dgm:cxn modelId="{4B7DC9D2-318F-4E88-BA80-B66A1AC7F448}" type="presParOf" srcId="{907EC305-FDA5-4BA8-B457-81C901595F0A}" destId="{B5BBEDB0-17C4-436F-A662-020531746AFF}" srcOrd="0" destOrd="0" presId="urn:microsoft.com/office/officeart/2008/layout/LinedList"/>
    <dgm:cxn modelId="{6B387F4F-C33A-4C79-B961-C7AB2F13AA3C}" type="presParOf" srcId="{907EC305-FDA5-4BA8-B457-81C901595F0A}" destId="{BFEF4A91-BF7D-4351-B70C-314A1A104CE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123141-F291-4F5E-8B0A-9FAD300402F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32F4F7-4EA4-4BC2-8BFC-05E31CFC616E}">
      <dgm:prSet/>
      <dgm:spPr/>
      <dgm:t>
        <a:bodyPr/>
        <a:lstStyle/>
        <a:p>
          <a:r>
            <a:rPr lang="en-US" noProof="0"/>
            <a:t>A low consumption autonomous trap</a:t>
          </a:r>
        </a:p>
      </dgm:t>
    </dgm:pt>
    <dgm:pt modelId="{23F941E6-7077-4061-B99F-422D59188705}" type="parTrans" cxnId="{CA2BEC1A-EAF5-4481-946E-D129856402C1}">
      <dgm:prSet/>
      <dgm:spPr/>
      <dgm:t>
        <a:bodyPr/>
        <a:lstStyle/>
        <a:p>
          <a:endParaRPr lang="en-US"/>
        </a:p>
      </dgm:t>
    </dgm:pt>
    <dgm:pt modelId="{B500A8EE-90A0-41BB-BC7D-4AB604904128}" type="sibTrans" cxnId="{CA2BEC1A-EAF5-4481-946E-D129856402C1}">
      <dgm:prSet/>
      <dgm:spPr/>
      <dgm:t>
        <a:bodyPr/>
        <a:lstStyle/>
        <a:p>
          <a:endParaRPr lang="en-US"/>
        </a:p>
      </dgm:t>
    </dgm:pt>
    <dgm:pt modelId="{CD335DEC-8197-4325-B4D6-CCFEFC3D979F}">
      <dgm:prSet/>
      <dgm:spPr/>
      <dgm:t>
        <a:bodyPr/>
        <a:lstStyle/>
        <a:p>
          <a:r>
            <a:rPr lang="en-US" noProof="0"/>
            <a:t>Attracts mosquitoes</a:t>
          </a:r>
        </a:p>
      </dgm:t>
    </dgm:pt>
    <dgm:pt modelId="{7ECA16BE-BA0A-4FBD-96DE-01005BBB77EE}" type="parTrans" cxnId="{9D5AC082-C899-4B9E-B560-36807DC592C2}">
      <dgm:prSet/>
      <dgm:spPr/>
      <dgm:t>
        <a:bodyPr/>
        <a:lstStyle/>
        <a:p>
          <a:endParaRPr lang="en-US"/>
        </a:p>
      </dgm:t>
    </dgm:pt>
    <dgm:pt modelId="{9D043E09-CE9F-415D-AF7E-CAD8C20E9FCC}" type="sibTrans" cxnId="{9D5AC082-C899-4B9E-B560-36807DC592C2}">
      <dgm:prSet/>
      <dgm:spPr/>
      <dgm:t>
        <a:bodyPr/>
        <a:lstStyle/>
        <a:p>
          <a:endParaRPr lang="en-US"/>
        </a:p>
      </dgm:t>
    </dgm:pt>
    <dgm:pt modelId="{58F4057C-59EE-4CF5-8A97-BB2DFA4FC816}">
      <dgm:prSet/>
      <dgm:spPr/>
      <dgm:t>
        <a:bodyPr/>
        <a:lstStyle/>
        <a:p>
          <a:r>
            <a:rPr lang="en-US" noProof="0"/>
            <a:t>Detects the presence of a mosquito</a:t>
          </a:r>
        </a:p>
      </dgm:t>
    </dgm:pt>
    <dgm:pt modelId="{3DC54EE2-69BF-42BB-9EC8-E16C6AD44B96}" type="parTrans" cxnId="{95319F7F-D0D1-4F53-9992-D7281B4BD02C}">
      <dgm:prSet/>
      <dgm:spPr/>
      <dgm:t>
        <a:bodyPr/>
        <a:lstStyle/>
        <a:p>
          <a:endParaRPr lang="en-US"/>
        </a:p>
      </dgm:t>
    </dgm:pt>
    <dgm:pt modelId="{1744490F-B5B1-48BE-B5CD-1B488008C73F}" type="sibTrans" cxnId="{95319F7F-D0D1-4F53-9992-D7281B4BD02C}">
      <dgm:prSet/>
      <dgm:spPr/>
      <dgm:t>
        <a:bodyPr/>
        <a:lstStyle/>
        <a:p>
          <a:endParaRPr lang="en-US"/>
        </a:p>
      </dgm:t>
    </dgm:pt>
    <dgm:pt modelId="{E9257750-D5B4-46C2-99CC-6F66FB6A1A58}">
      <dgm:prSet/>
      <dgm:spPr/>
      <dgm:t>
        <a:bodyPr/>
        <a:lstStyle/>
        <a:p>
          <a:r>
            <a:rPr lang="en-US" noProof="0"/>
            <a:t>Reads and save each wingbeat</a:t>
          </a:r>
        </a:p>
      </dgm:t>
    </dgm:pt>
    <dgm:pt modelId="{ECFBD06B-9348-4C04-8358-FD1AEB941389}" type="parTrans" cxnId="{F880FBE0-21F7-4E1C-ACE3-72D635D1D0F1}">
      <dgm:prSet/>
      <dgm:spPr/>
      <dgm:t>
        <a:bodyPr/>
        <a:lstStyle/>
        <a:p>
          <a:endParaRPr lang="en-US"/>
        </a:p>
      </dgm:t>
    </dgm:pt>
    <dgm:pt modelId="{28D845AA-22EA-41C2-A1CE-9F9DA8059929}" type="sibTrans" cxnId="{F880FBE0-21F7-4E1C-ACE3-72D635D1D0F1}">
      <dgm:prSet/>
      <dgm:spPr/>
      <dgm:t>
        <a:bodyPr/>
        <a:lstStyle/>
        <a:p>
          <a:endParaRPr lang="en-US"/>
        </a:p>
      </dgm:t>
    </dgm:pt>
    <dgm:pt modelId="{ED4CEBBF-600C-4311-A0B9-523538A5ABDE}">
      <dgm:prSet/>
      <dgm:spPr/>
      <dgm:t>
        <a:bodyPr/>
        <a:lstStyle/>
        <a:p>
          <a:r>
            <a:rPr lang="en-US" noProof="0"/>
            <a:t>Results can be retrieved by a scientist</a:t>
          </a:r>
        </a:p>
      </dgm:t>
    </dgm:pt>
    <dgm:pt modelId="{3C1EEE34-E905-425B-893B-0F48AA8BD77A}" type="parTrans" cxnId="{E7EA31A0-E125-4FE8-8CF3-10AAD6FEF24B}">
      <dgm:prSet/>
      <dgm:spPr/>
      <dgm:t>
        <a:bodyPr/>
        <a:lstStyle/>
        <a:p>
          <a:endParaRPr lang="en-US"/>
        </a:p>
      </dgm:t>
    </dgm:pt>
    <dgm:pt modelId="{4C6526A6-3CE0-4B42-9878-629F116FFB9A}" type="sibTrans" cxnId="{E7EA31A0-E125-4FE8-8CF3-10AAD6FEF24B}">
      <dgm:prSet/>
      <dgm:spPr/>
      <dgm:t>
        <a:bodyPr/>
        <a:lstStyle/>
        <a:p>
          <a:endParaRPr lang="en-US"/>
        </a:p>
      </dgm:t>
    </dgm:pt>
    <dgm:pt modelId="{273F4FB9-EB65-431D-9577-F1820D815499}" type="pres">
      <dgm:prSet presAssocID="{46123141-F291-4F5E-8B0A-9FAD300402FD}" presName="vert0" presStyleCnt="0">
        <dgm:presLayoutVars>
          <dgm:dir/>
          <dgm:animOne val="branch"/>
          <dgm:animLvl val="lvl"/>
        </dgm:presLayoutVars>
      </dgm:prSet>
      <dgm:spPr/>
    </dgm:pt>
    <dgm:pt modelId="{488EBC99-A9EC-4117-ACA0-87232958E163}" type="pres">
      <dgm:prSet presAssocID="{7032F4F7-4EA4-4BC2-8BFC-05E31CFC616E}" presName="thickLine" presStyleLbl="alignNode1" presStyleIdx="0" presStyleCnt="5"/>
      <dgm:spPr/>
    </dgm:pt>
    <dgm:pt modelId="{D94D9B3B-5D6F-43D3-A1AA-8502DDB292CF}" type="pres">
      <dgm:prSet presAssocID="{7032F4F7-4EA4-4BC2-8BFC-05E31CFC616E}" presName="horz1" presStyleCnt="0"/>
      <dgm:spPr/>
    </dgm:pt>
    <dgm:pt modelId="{DF625168-9C2F-4714-8878-6EF76655ABC1}" type="pres">
      <dgm:prSet presAssocID="{7032F4F7-4EA4-4BC2-8BFC-05E31CFC616E}" presName="tx1" presStyleLbl="revTx" presStyleIdx="0" presStyleCnt="5"/>
      <dgm:spPr/>
    </dgm:pt>
    <dgm:pt modelId="{AF219F75-BF9B-4380-94BA-661C520AA068}" type="pres">
      <dgm:prSet presAssocID="{7032F4F7-4EA4-4BC2-8BFC-05E31CFC616E}" presName="vert1" presStyleCnt="0"/>
      <dgm:spPr/>
    </dgm:pt>
    <dgm:pt modelId="{631D8705-D15A-4C95-A88B-6E9FBD198964}" type="pres">
      <dgm:prSet presAssocID="{CD335DEC-8197-4325-B4D6-CCFEFC3D979F}" presName="thickLine" presStyleLbl="alignNode1" presStyleIdx="1" presStyleCnt="5"/>
      <dgm:spPr/>
    </dgm:pt>
    <dgm:pt modelId="{6673CAE2-00DD-4A09-A388-DF17BA7A152E}" type="pres">
      <dgm:prSet presAssocID="{CD335DEC-8197-4325-B4D6-CCFEFC3D979F}" presName="horz1" presStyleCnt="0"/>
      <dgm:spPr/>
    </dgm:pt>
    <dgm:pt modelId="{E8B2A1E9-B0A7-4DAA-A573-1083D78A93F5}" type="pres">
      <dgm:prSet presAssocID="{CD335DEC-8197-4325-B4D6-CCFEFC3D979F}" presName="tx1" presStyleLbl="revTx" presStyleIdx="1" presStyleCnt="5"/>
      <dgm:spPr/>
    </dgm:pt>
    <dgm:pt modelId="{A92DA584-4CD1-49F3-B9F8-F2D5AA1A1C56}" type="pres">
      <dgm:prSet presAssocID="{CD335DEC-8197-4325-B4D6-CCFEFC3D979F}" presName="vert1" presStyleCnt="0"/>
      <dgm:spPr/>
    </dgm:pt>
    <dgm:pt modelId="{D29404B0-05A5-4E48-8C63-D6E3A794EFEC}" type="pres">
      <dgm:prSet presAssocID="{58F4057C-59EE-4CF5-8A97-BB2DFA4FC816}" presName="thickLine" presStyleLbl="alignNode1" presStyleIdx="2" presStyleCnt="5"/>
      <dgm:spPr/>
    </dgm:pt>
    <dgm:pt modelId="{BAB1D76F-B210-440B-A07D-511AC4DB052E}" type="pres">
      <dgm:prSet presAssocID="{58F4057C-59EE-4CF5-8A97-BB2DFA4FC816}" presName="horz1" presStyleCnt="0"/>
      <dgm:spPr/>
    </dgm:pt>
    <dgm:pt modelId="{B9468084-7D50-483F-B7F9-93D14C9036D0}" type="pres">
      <dgm:prSet presAssocID="{58F4057C-59EE-4CF5-8A97-BB2DFA4FC816}" presName="tx1" presStyleLbl="revTx" presStyleIdx="2" presStyleCnt="5"/>
      <dgm:spPr/>
    </dgm:pt>
    <dgm:pt modelId="{DEACB1A9-926A-4047-9288-B95005E9171B}" type="pres">
      <dgm:prSet presAssocID="{58F4057C-59EE-4CF5-8A97-BB2DFA4FC816}" presName="vert1" presStyleCnt="0"/>
      <dgm:spPr/>
    </dgm:pt>
    <dgm:pt modelId="{43DB7AE7-3821-4810-A968-093F62B74FD0}" type="pres">
      <dgm:prSet presAssocID="{E9257750-D5B4-46C2-99CC-6F66FB6A1A58}" presName="thickLine" presStyleLbl="alignNode1" presStyleIdx="3" presStyleCnt="5"/>
      <dgm:spPr/>
    </dgm:pt>
    <dgm:pt modelId="{C0CB64A4-4253-4C2E-AF0C-9C390E10D5BA}" type="pres">
      <dgm:prSet presAssocID="{E9257750-D5B4-46C2-99CC-6F66FB6A1A58}" presName="horz1" presStyleCnt="0"/>
      <dgm:spPr/>
    </dgm:pt>
    <dgm:pt modelId="{B17F9B3D-CFA0-4C4E-ADEA-BB32E10C685E}" type="pres">
      <dgm:prSet presAssocID="{E9257750-D5B4-46C2-99CC-6F66FB6A1A58}" presName="tx1" presStyleLbl="revTx" presStyleIdx="3" presStyleCnt="5"/>
      <dgm:spPr/>
    </dgm:pt>
    <dgm:pt modelId="{4730DB2F-D445-416F-853E-9FD2EE6D4575}" type="pres">
      <dgm:prSet presAssocID="{E9257750-D5B4-46C2-99CC-6F66FB6A1A58}" presName="vert1" presStyleCnt="0"/>
      <dgm:spPr/>
    </dgm:pt>
    <dgm:pt modelId="{95CB8F18-D873-49AF-9B7E-0CA95C7245C0}" type="pres">
      <dgm:prSet presAssocID="{ED4CEBBF-600C-4311-A0B9-523538A5ABDE}" presName="thickLine" presStyleLbl="alignNode1" presStyleIdx="4" presStyleCnt="5"/>
      <dgm:spPr/>
    </dgm:pt>
    <dgm:pt modelId="{B2796B5E-09C8-4D7D-A094-F2E50697F0A7}" type="pres">
      <dgm:prSet presAssocID="{ED4CEBBF-600C-4311-A0B9-523538A5ABDE}" presName="horz1" presStyleCnt="0"/>
      <dgm:spPr/>
    </dgm:pt>
    <dgm:pt modelId="{8F8E9559-C5E6-496B-B75E-69D541F129F0}" type="pres">
      <dgm:prSet presAssocID="{ED4CEBBF-600C-4311-A0B9-523538A5ABDE}" presName="tx1" presStyleLbl="revTx" presStyleIdx="4" presStyleCnt="5"/>
      <dgm:spPr/>
    </dgm:pt>
    <dgm:pt modelId="{99BB2E8B-288A-4DBF-AC47-832DFD60BDA1}" type="pres">
      <dgm:prSet presAssocID="{ED4CEBBF-600C-4311-A0B9-523538A5ABDE}" presName="vert1" presStyleCnt="0"/>
      <dgm:spPr/>
    </dgm:pt>
  </dgm:ptLst>
  <dgm:cxnLst>
    <dgm:cxn modelId="{CA2BEC1A-EAF5-4481-946E-D129856402C1}" srcId="{46123141-F291-4F5E-8B0A-9FAD300402FD}" destId="{7032F4F7-4EA4-4BC2-8BFC-05E31CFC616E}" srcOrd="0" destOrd="0" parTransId="{23F941E6-7077-4061-B99F-422D59188705}" sibTransId="{B500A8EE-90A0-41BB-BC7D-4AB604904128}"/>
    <dgm:cxn modelId="{61D05A68-A261-4F17-9E8E-E29FC7D6044A}" type="presOf" srcId="{E9257750-D5B4-46C2-99CC-6F66FB6A1A58}" destId="{B17F9B3D-CFA0-4C4E-ADEA-BB32E10C685E}" srcOrd="0" destOrd="0" presId="urn:microsoft.com/office/officeart/2008/layout/LinedList"/>
    <dgm:cxn modelId="{E518DC4B-DB2C-4D19-9A2C-258FA5052089}" type="presOf" srcId="{CD335DEC-8197-4325-B4D6-CCFEFC3D979F}" destId="{E8B2A1E9-B0A7-4DAA-A573-1083D78A93F5}" srcOrd="0" destOrd="0" presId="urn:microsoft.com/office/officeart/2008/layout/LinedList"/>
    <dgm:cxn modelId="{95319F7F-D0D1-4F53-9992-D7281B4BD02C}" srcId="{46123141-F291-4F5E-8B0A-9FAD300402FD}" destId="{58F4057C-59EE-4CF5-8A97-BB2DFA4FC816}" srcOrd="2" destOrd="0" parTransId="{3DC54EE2-69BF-42BB-9EC8-E16C6AD44B96}" sibTransId="{1744490F-B5B1-48BE-B5CD-1B488008C73F}"/>
    <dgm:cxn modelId="{39BAB67F-AA64-4827-933A-9C3AFDD20C25}" type="presOf" srcId="{7032F4F7-4EA4-4BC2-8BFC-05E31CFC616E}" destId="{DF625168-9C2F-4714-8878-6EF76655ABC1}" srcOrd="0" destOrd="0" presId="urn:microsoft.com/office/officeart/2008/layout/LinedList"/>
    <dgm:cxn modelId="{9D5AC082-C899-4B9E-B560-36807DC592C2}" srcId="{46123141-F291-4F5E-8B0A-9FAD300402FD}" destId="{CD335DEC-8197-4325-B4D6-CCFEFC3D979F}" srcOrd="1" destOrd="0" parTransId="{7ECA16BE-BA0A-4FBD-96DE-01005BBB77EE}" sibTransId="{9D043E09-CE9F-415D-AF7E-CAD8C20E9FCC}"/>
    <dgm:cxn modelId="{727ED190-8F7B-45B0-AFF6-D6BE867DC5E9}" type="presOf" srcId="{46123141-F291-4F5E-8B0A-9FAD300402FD}" destId="{273F4FB9-EB65-431D-9577-F1820D815499}" srcOrd="0" destOrd="0" presId="urn:microsoft.com/office/officeart/2008/layout/LinedList"/>
    <dgm:cxn modelId="{E7EA31A0-E125-4FE8-8CF3-10AAD6FEF24B}" srcId="{46123141-F291-4F5E-8B0A-9FAD300402FD}" destId="{ED4CEBBF-600C-4311-A0B9-523538A5ABDE}" srcOrd="4" destOrd="0" parTransId="{3C1EEE34-E905-425B-893B-0F48AA8BD77A}" sibTransId="{4C6526A6-3CE0-4B42-9878-629F116FFB9A}"/>
    <dgm:cxn modelId="{5517F0C1-4CC6-4DCF-970D-178665D3C840}" type="presOf" srcId="{58F4057C-59EE-4CF5-8A97-BB2DFA4FC816}" destId="{B9468084-7D50-483F-B7F9-93D14C9036D0}" srcOrd="0" destOrd="0" presId="urn:microsoft.com/office/officeart/2008/layout/LinedList"/>
    <dgm:cxn modelId="{545E1BD2-685C-48CC-88D0-B3024E9A2C54}" type="presOf" srcId="{ED4CEBBF-600C-4311-A0B9-523538A5ABDE}" destId="{8F8E9559-C5E6-496B-B75E-69D541F129F0}" srcOrd="0" destOrd="0" presId="urn:microsoft.com/office/officeart/2008/layout/LinedList"/>
    <dgm:cxn modelId="{F880FBE0-21F7-4E1C-ACE3-72D635D1D0F1}" srcId="{46123141-F291-4F5E-8B0A-9FAD300402FD}" destId="{E9257750-D5B4-46C2-99CC-6F66FB6A1A58}" srcOrd="3" destOrd="0" parTransId="{ECFBD06B-9348-4C04-8358-FD1AEB941389}" sibTransId="{28D845AA-22EA-41C2-A1CE-9F9DA8059929}"/>
    <dgm:cxn modelId="{15B05570-B881-4BCA-BD5B-CEE0FADE97F1}" type="presParOf" srcId="{273F4FB9-EB65-431D-9577-F1820D815499}" destId="{488EBC99-A9EC-4117-ACA0-87232958E163}" srcOrd="0" destOrd="0" presId="urn:microsoft.com/office/officeart/2008/layout/LinedList"/>
    <dgm:cxn modelId="{F803A248-1519-4C8A-8458-372BC3DE9D4E}" type="presParOf" srcId="{273F4FB9-EB65-431D-9577-F1820D815499}" destId="{D94D9B3B-5D6F-43D3-A1AA-8502DDB292CF}" srcOrd="1" destOrd="0" presId="urn:microsoft.com/office/officeart/2008/layout/LinedList"/>
    <dgm:cxn modelId="{4C65836E-3DEF-4FA2-A70C-DB324823CE36}" type="presParOf" srcId="{D94D9B3B-5D6F-43D3-A1AA-8502DDB292CF}" destId="{DF625168-9C2F-4714-8878-6EF76655ABC1}" srcOrd="0" destOrd="0" presId="urn:microsoft.com/office/officeart/2008/layout/LinedList"/>
    <dgm:cxn modelId="{CE4B5D36-B004-4AF1-9AF6-33708E111395}" type="presParOf" srcId="{D94D9B3B-5D6F-43D3-A1AA-8502DDB292CF}" destId="{AF219F75-BF9B-4380-94BA-661C520AA068}" srcOrd="1" destOrd="0" presId="urn:microsoft.com/office/officeart/2008/layout/LinedList"/>
    <dgm:cxn modelId="{DB7BD775-7225-4C67-B7A3-E4A4E6EB2A7D}" type="presParOf" srcId="{273F4FB9-EB65-431D-9577-F1820D815499}" destId="{631D8705-D15A-4C95-A88B-6E9FBD198964}" srcOrd="2" destOrd="0" presId="urn:microsoft.com/office/officeart/2008/layout/LinedList"/>
    <dgm:cxn modelId="{3E984850-B3DE-41CD-892E-EF1528A34F92}" type="presParOf" srcId="{273F4FB9-EB65-431D-9577-F1820D815499}" destId="{6673CAE2-00DD-4A09-A388-DF17BA7A152E}" srcOrd="3" destOrd="0" presId="urn:microsoft.com/office/officeart/2008/layout/LinedList"/>
    <dgm:cxn modelId="{8EB9F002-1734-4833-A9B1-41DB4B963D0C}" type="presParOf" srcId="{6673CAE2-00DD-4A09-A388-DF17BA7A152E}" destId="{E8B2A1E9-B0A7-4DAA-A573-1083D78A93F5}" srcOrd="0" destOrd="0" presId="urn:microsoft.com/office/officeart/2008/layout/LinedList"/>
    <dgm:cxn modelId="{10005809-9F06-4D93-AFF3-12082167277C}" type="presParOf" srcId="{6673CAE2-00DD-4A09-A388-DF17BA7A152E}" destId="{A92DA584-4CD1-49F3-B9F8-F2D5AA1A1C56}" srcOrd="1" destOrd="0" presId="urn:microsoft.com/office/officeart/2008/layout/LinedList"/>
    <dgm:cxn modelId="{B6B05A9A-B673-4C22-94C4-074654537D90}" type="presParOf" srcId="{273F4FB9-EB65-431D-9577-F1820D815499}" destId="{D29404B0-05A5-4E48-8C63-D6E3A794EFEC}" srcOrd="4" destOrd="0" presId="urn:microsoft.com/office/officeart/2008/layout/LinedList"/>
    <dgm:cxn modelId="{6C3F590B-028E-460A-9153-7D1571FA5922}" type="presParOf" srcId="{273F4FB9-EB65-431D-9577-F1820D815499}" destId="{BAB1D76F-B210-440B-A07D-511AC4DB052E}" srcOrd="5" destOrd="0" presId="urn:microsoft.com/office/officeart/2008/layout/LinedList"/>
    <dgm:cxn modelId="{F7D97B16-178B-497A-B67C-3DD770270DFB}" type="presParOf" srcId="{BAB1D76F-B210-440B-A07D-511AC4DB052E}" destId="{B9468084-7D50-483F-B7F9-93D14C9036D0}" srcOrd="0" destOrd="0" presId="urn:microsoft.com/office/officeart/2008/layout/LinedList"/>
    <dgm:cxn modelId="{5B6316DD-F6B0-47AB-9779-527C39BE5FAA}" type="presParOf" srcId="{BAB1D76F-B210-440B-A07D-511AC4DB052E}" destId="{DEACB1A9-926A-4047-9288-B95005E9171B}" srcOrd="1" destOrd="0" presId="urn:microsoft.com/office/officeart/2008/layout/LinedList"/>
    <dgm:cxn modelId="{C940A201-6F1B-4390-8536-CC47E32CE235}" type="presParOf" srcId="{273F4FB9-EB65-431D-9577-F1820D815499}" destId="{43DB7AE7-3821-4810-A968-093F62B74FD0}" srcOrd="6" destOrd="0" presId="urn:microsoft.com/office/officeart/2008/layout/LinedList"/>
    <dgm:cxn modelId="{4B0FE0A5-4F24-4AD3-8EC0-DFCC2AB31815}" type="presParOf" srcId="{273F4FB9-EB65-431D-9577-F1820D815499}" destId="{C0CB64A4-4253-4C2E-AF0C-9C390E10D5BA}" srcOrd="7" destOrd="0" presId="urn:microsoft.com/office/officeart/2008/layout/LinedList"/>
    <dgm:cxn modelId="{4D30FFA3-B291-4513-BB7D-466FE0CC681E}" type="presParOf" srcId="{C0CB64A4-4253-4C2E-AF0C-9C390E10D5BA}" destId="{B17F9B3D-CFA0-4C4E-ADEA-BB32E10C685E}" srcOrd="0" destOrd="0" presId="urn:microsoft.com/office/officeart/2008/layout/LinedList"/>
    <dgm:cxn modelId="{2B527CA3-8331-42E7-AC11-661A4B763F1D}" type="presParOf" srcId="{C0CB64A4-4253-4C2E-AF0C-9C390E10D5BA}" destId="{4730DB2F-D445-416F-853E-9FD2EE6D4575}" srcOrd="1" destOrd="0" presId="urn:microsoft.com/office/officeart/2008/layout/LinedList"/>
    <dgm:cxn modelId="{9A08B585-0153-4B42-8EA2-0E49663E9759}" type="presParOf" srcId="{273F4FB9-EB65-431D-9577-F1820D815499}" destId="{95CB8F18-D873-49AF-9B7E-0CA95C7245C0}" srcOrd="8" destOrd="0" presId="urn:microsoft.com/office/officeart/2008/layout/LinedList"/>
    <dgm:cxn modelId="{E93867E6-E5DE-4AC9-9198-F2DA155FFD5B}" type="presParOf" srcId="{273F4FB9-EB65-431D-9577-F1820D815499}" destId="{B2796B5E-09C8-4D7D-A094-F2E50697F0A7}" srcOrd="9" destOrd="0" presId="urn:microsoft.com/office/officeart/2008/layout/LinedList"/>
    <dgm:cxn modelId="{28E0BB10-3680-4C0F-9254-94E6FE6DA519}" type="presParOf" srcId="{B2796B5E-09C8-4D7D-A094-F2E50697F0A7}" destId="{8F8E9559-C5E6-496B-B75E-69D541F129F0}" srcOrd="0" destOrd="0" presId="urn:microsoft.com/office/officeart/2008/layout/LinedList"/>
    <dgm:cxn modelId="{277FC9CB-6DC2-493F-B5DF-7C6D212F11BF}" type="presParOf" srcId="{B2796B5E-09C8-4D7D-A094-F2E50697F0A7}" destId="{99BB2E8B-288A-4DBF-AC47-832DFD60BDA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482A0-07BF-4DC9-B201-7A72E5FFD57B}">
      <dsp:nvSpPr>
        <dsp:cNvPr id="0" name=""/>
        <dsp:cNvSpPr/>
      </dsp:nvSpPr>
      <dsp:spPr>
        <a:xfrm>
          <a:off x="0" y="0"/>
          <a:ext cx="74889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BE371-0568-4A89-A295-D826EF4FB12E}">
      <dsp:nvSpPr>
        <dsp:cNvPr id="0" name=""/>
        <dsp:cNvSpPr/>
      </dsp:nvSpPr>
      <dsp:spPr>
        <a:xfrm>
          <a:off x="0" y="0"/>
          <a:ext cx="7488936" cy="1309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noProof="0"/>
            <a:t>Study mosquitoes' populations</a:t>
          </a:r>
        </a:p>
      </dsp:txBody>
      <dsp:txXfrm>
        <a:off x="0" y="0"/>
        <a:ext cx="7488936" cy="1309877"/>
      </dsp:txXfrm>
    </dsp:sp>
    <dsp:sp modelId="{212C82C5-4F0C-4711-BFA2-B272A1793815}">
      <dsp:nvSpPr>
        <dsp:cNvPr id="0" name=""/>
        <dsp:cNvSpPr/>
      </dsp:nvSpPr>
      <dsp:spPr>
        <a:xfrm>
          <a:off x="0" y="1309877"/>
          <a:ext cx="7488936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C4959-5347-411B-93B0-5827D3CDC5C6}">
      <dsp:nvSpPr>
        <dsp:cNvPr id="0" name=""/>
        <dsp:cNvSpPr/>
      </dsp:nvSpPr>
      <dsp:spPr>
        <a:xfrm>
          <a:off x="0" y="1309877"/>
          <a:ext cx="7488936" cy="1309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noProof="0"/>
            <a:t>Understand the behavior of different species</a:t>
          </a:r>
        </a:p>
      </dsp:txBody>
      <dsp:txXfrm>
        <a:off x="0" y="1309877"/>
        <a:ext cx="7488936" cy="1309877"/>
      </dsp:txXfrm>
    </dsp:sp>
    <dsp:sp modelId="{F59B1189-FEE6-489B-9253-2777360DBA47}">
      <dsp:nvSpPr>
        <dsp:cNvPr id="0" name=""/>
        <dsp:cNvSpPr/>
      </dsp:nvSpPr>
      <dsp:spPr>
        <a:xfrm>
          <a:off x="0" y="2619755"/>
          <a:ext cx="7488936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0EA88-EC5B-4A62-BD41-C94DCFAB2CE3}">
      <dsp:nvSpPr>
        <dsp:cNvPr id="0" name=""/>
        <dsp:cNvSpPr/>
      </dsp:nvSpPr>
      <dsp:spPr>
        <a:xfrm>
          <a:off x="0" y="2619755"/>
          <a:ext cx="7488936" cy="1309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noProof="0"/>
            <a:t>Help researchers</a:t>
          </a:r>
        </a:p>
      </dsp:txBody>
      <dsp:txXfrm>
        <a:off x="0" y="2619755"/>
        <a:ext cx="7488936" cy="1309877"/>
      </dsp:txXfrm>
    </dsp:sp>
    <dsp:sp modelId="{539D610E-6E7A-44D1-B55A-BE6D6A056997}">
      <dsp:nvSpPr>
        <dsp:cNvPr id="0" name=""/>
        <dsp:cNvSpPr/>
      </dsp:nvSpPr>
      <dsp:spPr>
        <a:xfrm>
          <a:off x="0" y="3929634"/>
          <a:ext cx="748893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BEDB0-17C4-436F-A662-020531746AFF}">
      <dsp:nvSpPr>
        <dsp:cNvPr id="0" name=""/>
        <dsp:cNvSpPr/>
      </dsp:nvSpPr>
      <dsp:spPr>
        <a:xfrm>
          <a:off x="0" y="3929633"/>
          <a:ext cx="7488936" cy="1309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noProof="0"/>
            <a:t>Multiple benefits for global health</a:t>
          </a:r>
        </a:p>
      </dsp:txBody>
      <dsp:txXfrm>
        <a:off x="0" y="3929633"/>
        <a:ext cx="7488936" cy="13098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EBC99-A9EC-4117-ACA0-87232958E163}">
      <dsp:nvSpPr>
        <dsp:cNvPr id="0" name=""/>
        <dsp:cNvSpPr/>
      </dsp:nvSpPr>
      <dsp:spPr>
        <a:xfrm>
          <a:off x="0" y="639"/>
          <a:ext cx="74889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25168-9C2F-4714-8878-6EF76655ABC1}">
      <dsp:nvSpPr>
        <dsp:cNvPr id="0" name=""/>
        <dsp:cNvSpPr/>
      </dsp:nvSpPr>
      <dsp:spPr>
        <a:xfrm>
          <a:off x="0" y="639"/>
          <a:ext cx="7488936" cy="104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noProof="0"/>
            <a:t>A low consumption autonomous trap</a:t>
          </a:r>
        </a:p>
      </dsp:txBody>
      <dsp:txXfrm>
        <a:off x="0" y="639"/>
        <a:ext cx="7488936" cy="1047646"/>
      </dsp:txXfrm>
    </dsp:sp>
    <dsp:sp modelId="{631D8705-D15A-4C95-A88B-6E9FBD198964}">
      <dsp:nvSpPr>
        <dsp:cNvPr id="0" name=""/>
        <dsp:cNvSpPr/>
      </dsp:nvSpPr>
      <dsp:spPr>
        <a:xfrm>
          <a:off x="0" y="1048286"/>
          <a:ext cx="7488936" cy="0"/>
        </a:xfrm>
        <a:prstGeom prst="line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accent2">
              <a:hueOff val="-2592252"/>
              <a:satOff val="-5102"/>
              <a:lumOff val="3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2A1E9-B0A7-4DAA-A573-1083D78A93F5}">
      <dsp:nvSpPr>
        <dsp:cNvPr id="0" name=""/>
        <dsp:cNvSpPr/>
      </dsp:nvSpPr>
      <dsp:spPr>
        <a:xfrm>
          <a:off x="0" y="1048286"/>
          <a:ext cx="7488936" cy="104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noProof="0"/>
            <a:t>Attracts mosquitoes</a:t>
          </a:r>
        </a:p>
      </dsp:txBody>
      <dsp:txXfrm>
        <a:off x="0" y="1048286"/>
        <a:ext cx="7488936" cy="1047646"/>
      </dsp:txXfrm>
    </dsp:sp>
    <dsp:sp modelId="{D29404B0-05A5-4E48-8C63-D6E3A794EFEC}">
      <dsp:nvSpPr>
        <dsp:cNvPr id="0" name=""/>
        <dsp:cNvSpPr/>
      </dsp:nvSpPr>
      <dsp:spPr>
        <a:xfrm>
          <a:off x="0" y="2095932"/>
          <a:ext cx="748893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68084-7D50-483F-B7F9-93D14C9036D0}">
      <dsp:nvSpPr>
        <dsp:cNvPr id="0" name=""/>
        <dsp:cNvSpPr/>
      </dsp:nvSpPr>
      <dsp:spPr>
        <a:xfrm>
          <a:off x="0" y="2095932"/>
          <a:ext cx="7488936" cy="104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noProof="0"/>
            <a:t>Detects the presence of a mosquito</a:t>
          </a:r>
        </a:p>
      </dsp:txBody>
      <dsp:txXfrm>
        <a:off x="0" y="2095932"/>
        <a:ext cx="7488936" cy="1047646"/>
      </dsp:txXfrm>
    </dsp:sp>
    <dsp:sp modelId="{43DB7AE7-3821-4810-A968-093F62B74FD0}">
      <dsp:nvSpPr>
        <dsp:cNvPr id="0" name=""/>
        <dsp:cNvSpPr/>
      </dsp:nvSpPr>
      <dsp:spPr>
        <a:xfrm>
          <a:off x="0" y="3143579"/>
          <a:ext cx="7488936" cy="0"/>
        </a:xfrm>
        <a:prstGeom prst="line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accent2">
              <a:hueOff val="-7776756"/>
              <a:satOff val="-15306"/>
              <a:lumOff val="9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F9B3D-CFA0-4C4E-ADEA-BB32E10C685E}">
      <dsp:nvSpPr>
        <dsp:cNvPr id="0" name=""/>
        <dsp:cNvSpPr/>
      </dsp:nvSpPr>
      <dsp:spPr>
        <a:xfrm>
          <a:off x="0" y="3143579"/>
          <a:ext cx="7488936" cy="104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noProof="0"/>
            <a:t>Reads and save each wingbeat</a:t>
          </a:r>
        </a:p>
      </dsp:txBody>
      <dsp:txXfrm>
        <a:off x="0" y="3143579"/>
        <a:ext cx="7488936" cy="1047646"/>
      </dsp:txXfrm>
    </dsp:sp>
    <dsp:sp modelId="{95CB8F18-D873-49AF-9B7E-0CA95C7245C0}">
      <dsp:nvSpPr>
        <dsp:cNvPr id="0" name=""/>
        <dsp:cNvSpPr/>
      </dsp:nvSpPr>
      <dsp:spPr>
        <a:xfrm>
          <a:off x="0" y="4191225"/>
          <a:ext cx="748893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E9559-C5E6-496B-B75E-69D541F129F0}">
      <dsp:nvSpPr>
        <dsp:cNvPr id="0" name=""/>
        <dsp:cNvSpPr/>
      </dsp:nvSpPr>
      <dsp:spPr>
        <a:xfrm>
          <a:off x="0" y="4191225"/>
          <a:ext cx="7488936" cy="104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noProof="0"/>
            <a:t>Results can be retrieved by a scientist</a:t>
          </a:r>
        </a:p>
      </dsp:txBody>
      <dsp:txXfrm>
        <a:off x="0" y="4191225"/>
        <a:ext cx="7488936" cy="1047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4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7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2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05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3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7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7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6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7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8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4" name="Picture 3" descr="Moustique sur la peau">
            <a:extLst>
              <a:ext uri="{FF2B5EF4-FFF2-40B4-BE49-F238E27FC236}">
                <a16:creationId xmlns:a16="http://schemas.microsoft.com/office/drawing/2014/main" id="{27FF2032-3523-8688-5A76-8E16A6ED46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45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D0778F2-C39B-E438-CE05-64586B19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 noProof="0">
                <a:solidFill>
                  <a:srgbClr val="FFFFFF"/>
                </a:solidFill>
              </a:rPr>
              <a:t>Mosquitoes' wingbeat analysis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44643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029A4A-0EAF-6619-946C-AB15DB6D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 noProof="0"/>
              <a:t>Use case of the product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aphicFrame>
        <p:nvGraphicFramePr>
          <p:cNvPr id="17" name="Espace réservé du contenu 2">
            <a:extLst>
              <a:ext uri="{FF2B5EF4-FFF2-40B4-BE49-F238E27FC236}">
                <a16:creationId xmlns:a16="http://schemas.microsoft.com/office/drawing/2014/main" id="{BCF663D8-9FB0-82B6-65F2-A131D4CFC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613495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699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DC2D62-1FC4-D9F5-CA3A-BBE747FC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3700" noProof="0"/>
              <a:t>System requirements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aphicFrame>
        <p:nvGraphicFramePr>
          <p:cNvPr id="37" name="Espace réservé du contenu 2">
            <a:extLst>
              <a:ext uri="{FF2B5EF4-FFF2-40B4-BE49-F238E27FC236}">
                <a16:creationId xmlns:a16="http://schemas.microsoft.com/office/drawing/2014/main" id="{E22CDDDD-B600-A57D-E803-15D36C30A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434262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73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216D3D-4CE7-3F10-65AE-5A42F0E1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noProof="0" dirty="0"/>
              <a:t>System global view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Espace réservé du contenu 8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AA568CAF-0B45-2188-B712-EE22F13A9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98" y="976160"/>
            <a:ext cx="4422667" cy="5378920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1B8E329-6134-E0B9-D43F-4FFFC6085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7" name="Image 6" descr="Une image contenant diagramme, texte, Plan, ligne&#10;&#10;Le contenu généré par l’IA peut être incorrect.">
            <a:extLst>
              <a:ext uri="{FF2B5EF4-FFF2-40B4-BE49-F238E27FC236}">
                <a16:creationId xmlns:a16="http://schemas.microsoft.com/office/drawing/2014/main" id="{D235AA6A-67A5-9506-5E45-846B6EC11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523" y="2181316"/>
            <a:ext cx="4164620" cy="416462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384D729-00DA-D7F4-E1DD-C2A052BA5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123331" y="3029588"/>
            <a:ext cx="447737" cy="77163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57668CE-826A-7F9A-4E2B-EEEDDE1A6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123330" y="3642516"/>
            <a:ext cx="447737" cy="7716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2059F38-ADCA-906C-E874-DEF5ABD0415B}"/>
              </a:ext>
            </a:extLst>
          </p:cNvPr>
          <p:cNvSpPr/>
          <p:nvPr/>
        </p:nvSpPr>
        <p:spPr>
          <a:xfrm>
            <a:off x="7191214" y="3848837"/>
            <a:ext cx="169479" cy="30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04A9AB-07B4-C2FF-4835-74EC9C9AF832}"/>
              </a:ext>
            </a:extLst>
          </p:cNvPr>
          <p:cNvSpPr/>
          <p:nvPr/>
        </p:nvSpPr>
        <p:spPr>
          <a:xfrm>
            <a:off x="6385400" y="3454400"/>
            <a:ext cx="1005840" cy="257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2DF185-1FD1-966F-DEB6-4F4DDB5CBB04}"/>
              </a:ext>
            </a:extLst>
          </p:cNvPr>
          <p:cNvSpPr/>
          <p:nvPr/>
        </p:nvSpPr>
        <p:spPr>
          <a:xfrm>
            <a:off x="6185374" y="5622315"/>
            <a:ext cx="1005840" cy="257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F57364-D9DA-16DB-A186-2FED5A36B418}"/>
              </a:ext>
            </a:extLst>
          </p:cNvPr>
          <p:cNvSpPr/>
          <p:nvPr/>
        </p:nvSpPr>
        <p:spPr>
          <a:xfrm>
            <a:off x="7234006" y="3249533"/>
            <a:ext cx="169479" cy="30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275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9CC9871-4DC7-E9DE-A316-41964532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9200" cy="1463040"/>
          </a:xfrm>
        </p:spPr>
        <p:txBody>
          <a:bodyPr>
            <a:normAutofit/>
          </a:bodyPr>
          <a:lstStyle/>
          <a:p>
            <a:r>
              <a:rPr lang="en-US" noProof="0"/>
              <a:t>First proof of concept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19862E-7186-427C-8292-92687AF4E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texte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FA246CBF-30F8-78FF-734C-0CC3ACB2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519" y="565872"/>
            <a:ext cx="2589356" cy="1873328"/>
          </a:xfrm>
          <a:prstGeom prst="rect">
            <a:avLst/>
          </a:prstGeom>
        </p:spPr>
      </p:pic>
      <p:pic>
        <p:nvPicPr>
          <p:cNvPr id="11" name="Image 10" descr="Une image contenant fils électriques, câble, Appareils électroniques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5D8FDE26-8CB3-187B-85C6-A95F94C3D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616" y="3096569"/>
            <a:ext cx="5553743" cy="3123979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4BD0B4-BA5F-50F7-1902-15A683BAB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029200" cy="3767328"/>
          </a:xfrm>
        </p:spPr>
        <p:txBody>
          <a:bodyPr>
            <a:normAutofit/>
          </a:bodyPr>
          <a:lstStyle/>
          <a:p>
            <a:r>
              <a:rPr lang="en-US"/>
              <a:t>DC motor </a:t>
            </a:r>
            <a:r>
              <a:rPr lang="en-US" noProof="0"/>
              <a:t>to simulate the mosquitoes’ wings</a:t>
            </a:r>
          </a:p>
          <a:p>
            <a:r>
              <a:rPr lang="en-US" noProof="0"/>
              <a:t>Little to none modification of the pulses received as the UV beam is very narrow</a:t>
            </a:r>
          </a:p>
          <a:p>
            <a:endParaRPr lang="en-US" noProof="0"/>
          </a:p>
        </p:txBody>
      </p:sp>
      <p:pic>
        <p:nvPicPr>
          <p:cNvPr id="5" name="Image 4" descr="Une image contenant outil, Appareils électroniques, Ingénierie électronique, Composant de circuit&#10;&#10;Le contenu généré par l’IA peut être incorrect.">
            <a:extLst>
              <a:ext uri="{FF2B5EF4-FFF2-40B4-BE49-F238E27FC236}">
                <a16:creationId xmlns:a16="http://schemas.microsoft.com/office/drawing/2014/main" id="{1A6CBA59-7DF1-B00A-246C-0F74C1398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710" y="657369"/>
            <a:ext cx="2496862" cy="1404485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A7CBE65-3E63-5433-CB02-34EFB8AC737D}"/>
              </a:ext>
            </a:extLst>
          </p:cNvPr>
          <p:cNvCxnSpPr>
            <a:cxnSpLocks/>
          </p:cNvCxnSpPr>
          <p:nvPr/>
        </p:nvCxnSpPr>
        <p:spPr>
          <a:xfrm flipH="1">
            <a:off x="7406640" y="3959352"/>
            <a:ext cx="2779776" cy="969264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C8BE1D8-832E-9D93-5BCD-9D4CF3BFE745}"/>
              </a:ext>
            </a:extLst>
          </p:cNvPr>
          <p:cNvCxnSpPr>
            <a:cxnSpLocks/>
          </p:cNvCxnSpPr>
          <p:nvPr/>
        </p:nvCxnSpPr>
        <p:spPr>
          <a:xfrm flipH="1">
            <a:off x="7406640" y="4343400"/>
            <a:ext cx="1993392" cy="585216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17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C5B444-83D5-D4AE-B83C-6F062672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0592"/>
          </a:xfrm>
        </p:spPr>
        <p:txBody>
          <a:bodyPr>
            <a:normAutofit/>
          </a:bodyPr>
          <a:lstStyle/>
          <a:p>
            <a:r>
              <a:rPr lang="en-US"/>
              <a:t>Second PoC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D193C3-DAD8-DEEE-60C9-5BE400F2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978408"/>
            <a:ext cx="4946904" cy="2450592"/>
          </a:xfrm>
        </p:spPr>
        <p:txBody>
          <a:bodyPr>
            <a:normAutofit/>
          </a:bodyPr>
          <a:lstStyle/>
          <a:p>
            <a:r>
              <a:rPr lang="en-US"/>
              <a:t>Better results as the reflective part really cuts the light beam</a:t>
            </a:r>
          </a:p>
          <a:p>
            <a:r>
              <a:rPr lang="en-US"/>
              <a:t>Realistic concept for the real system</a:t>
            </a:r>
          </a:p>
        </p:txBody>
      </p:sp>
      <p:pic>
        <p:nvPicPr>
          <p:cNvPr id="5" name="Image 4" descr="Une image contenant texte, Police, diagramme, ligne&#10;&#10;Le contenu généré par l’IA peut être incorrect.">
            <a:extLst>
              <a:ext uri="{FF2B5EF4-FFF2-40B4-BE49-F238E27FC236}">
                <a16:creationId xmlns:a16="http://schemas.microsoft.com/office/drawing/2014/main" id="{329AD3B9-8687-1224-4177-8C59A26A4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50" y="4224532"/>
            <a:ext cx="5038931" cy="1511678"/>
          </a:xfrm>
          <a:prstGeom prst="rect">
            <a:avLst/>
          </a:prstGeom>
        </p:spPr>
      </p:pic>
      <p:pic>
        <p:nvPicPr>
          <p:cNvPr id="9" name="Image 8" descr="Une image contenant invertébré, insecte&#10;&#10;Le contenu généré par l’IA peut être incorrect.">
            <a:extLst>
              <a:ext uri="{FF2B5EF4-FFF2-40B4-BE49-F238E27FC236}">
                <a16:creationId xmlns:a16="http://schemas.microsoft.com/office/drawing/2014/main" id="{2BB29915-14C2-7443-78E2-0EF3E663E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858" y="3250713"/>
            <a:ext cx="4637140" cy="309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87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183CFA-99DA-643C-C685-9A411A41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n-US" sz="4000"/>
              <a:t>PoC results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41798C-B4BB-8A0B-3FBA-56BCB8293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n-US"/>
              <a:t>The spikes are clearly separated from the noise</a:t>
            </a:r>
          </a:p>
          <a:p>
            <a:r>
              <a:rPr lang="en-US"/>
              <a:t>The amplitude is too low</a:t>
            </a:r>
          </a:p>
          <a:p>
            <a:r>
              <a:rPr lang="en-US"/>
              <a:t>More amplification is needed</a:t>
            </a:r>
          </a:p>
        </p:txBody>
      </p:sp>
      <p:pic>
        <p:nvPicPr>
          <p:cNvPr id="5" name="Espace réservé du contenu 4" descr="Une image contenant texte, Appareils électroniques, capture d’écran, Appareil de présentation&#10;&#10;Le contenu généré par l’IA peut être incorrect.">
            <a:extLst>
              <a:ext uri="{FF2B5EF4-FFF2-40B4-BE49-F238E27FC236}">
                <a16:creationId xmlns:a16="http://schemas.microsoft.com/office/drawing/2014/main" id="{715C780D-A585-D176-1CEE-9B7A97934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54" b="-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805122-0646-5CBF-17DC-4C7E63BD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noProof="0"/>
              <a:t>Simulation – UV LED circuit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3" name="Image 12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10253765-6BE7-262E-598D-E85ADFD7A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3429001"/>
            <a:ext cx="6945250" cy="2917004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6EA247-2586-6D38-687A-F3573690C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noProof="0"/>
              <a:t>High energy pulses</a:t>
            </a:r>
          </a:p>
          <a:p>
            <a:r>
              <a:rPr lang="en-US" noProof="0"/>
              <a:t>To increase the effective distance and the signal quality for the receiver</a:t>
            </a:r>
          </a:p>
          <a:p>
            <a:r>
              <a:rPr lang="en-US" noProof="0"/>
              <a:t>Without blowing out the LED</a:t>
            </a:r>
          </a:p>
        </p:txBody>
      </p:sp>
    </p:spTree>
    <p:extLst>
      <p:ext uri="{BB962C8B-B14F-4D97-AF65-F5344CB8AC3E}">
        <p14:creationId xmlns:p14="http://schemas.microsoft.com/office/powerpoint/2010/main" val="326213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8C76EF-CF20-6768-EBB5-40D662AF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noProof="0" dirty="0"/>
              <a:t>The 555 precision timer 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Image 4" descr="Une image contenant diagramme, Dessin technique, ligne, Plan&#10;&#10;Le contenu généré par l’IA peut être incorrect.">
            <a:extLst>
              <a:ext uri="{FF2B5EF4-FFF2-40B4-BE49-F238E27FC236}">
                <a16:creationId xmlns:a16="http://schemas.microsoft.com/office/drawing/2014/main" id="{BC028F8C-4C7A-883B-B79B-55A6AD39F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93" y="2721740"/>
            <a:ext cx="4626889" cy="315785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F9F44F-CC97-AED4-E5E4-22B969E7C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noProof="0"/>
              <a:t>A precision timer IC</a:t>
            </a:r>
          </a:p>
          <a:p>
            <a:r>
              <a:rPr lang="en-US" noProof="0"/>
              <a:t>Can be used as a pulse generator</a:t>
            </a:r>
          </a:p>
          <a:p>
            <a:r>
              <a:rPr lang="en-US" noProof="0"/>
              <a:t>Monostable, or bistable to produce flip-flop switching action</a:t>
            </a:r>
          </a:p>
          <a:p>
            <a:r>
              <a:rPr lang="en-US" noProof="0"/>
              <a:t>5-15V, 200mA </a:t>
            </a:r>
            <a:r>
              <a:rPr lang="en-US" noProof="0">
                <a:sym typeface="Wingdings" panose="05000000000000000000" pitchFamily="2" charset="2"/>
              </a:rPr>
              <a:t> suitable to drive the MOSFET</a:t>
            </a:r>
          </a:p>
          <a:p>
            <a:pPr marL="0" indent="0">
              <a:buNone/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9911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D7A423-ACCB-3AAF-CCDE-DC6525A9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noProof="0" dirty="0"/>
              <a:t>Capacitor charge and discharge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9" name="Image 18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3ABBD1F-36CF-90E2-A338-08B4DDBB1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25" y="3963388"/>
            <a:ext cx="4123129" cy="2424587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4C32C4-15A3-BA47-B969-2059806D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657369"/>
            <a:ext cx="4160520" cy="2771631"/>
          </a:xfrm>
        </p:spPr>
        <p:txBody>
          <a:bodyPr>
            <a:normAutofit/>
          </a:bodyPr>
          <a:lstStyle/>
          <a:p>
            <a:r>
              <a:rPr lang="en-US" noProof="0" dirty="0"/>
              <a:t>Diode to bypass the resistor when charging the capacitor to get a 20% duty cycle</a:t>
            </a:r>
          </a:p>
          <a:p>
            <a:r>
              <a:rPr lang="en-US" dirty="0"/>
              <a:t>Two internal voltage dividers for the threshold : </a:t>
            </a:r>
            <a:r>
              <a:rPr lang="en-US" dirty="0" err="1"/>
              <a:t>Vcc</a:t>
            </a:r>
            <a:r>
              <a:rPr lang="en-US" dirty="0"/>
              <a:t>/3 and 2Vcc/3</a:t>
            </a:r>
          </a:p>
          <a:p>
            <a:r>
              <a:rPr lang="en-US" dirty="0"/>
              <a:t>That is why the capacitor charge and discharge between 1,6v and 3,3V</a:t>
            </a:r>
          </a:p>
          <a:p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1E31D3-9ADC-E629-B576-97E536E539CC}"/>
              </a:ext>
            </a:extLst>
          </p:cNvPr>
          <p:cNvSpPr/>
          <p:nvPr/>
        </p:nvSpPr>
        <p:spPr>
          <a:xfrm>
            <a:off x="11065338" y="5111173"/>
            <a:ext cx="527096" cy="813917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5" name="Image 4" descr="Une image contenant capture d’écran, texte, Logiciel multimédia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F18D2B36-C21A-DCF8-555C-EB58E81816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1987"/>
          <a:stretch>
            <a:fillRect/>
          </a:stretch>
        </p:blipFill>
        <p:spPr>
          <a:xfrm>
            <a:off x="185911" y="3474720"/>
            <a:ext cx="7321313" cy="291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4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526FF0-C738-DC3C-2EC8-7E4B6CDA1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19419" cy="3031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noProof="0" dirty="0"/>
              <a:t>LED current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5A83A3-2BE3-A9D2-F1C4-F322B487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4323853"/>
            <a:ext cx="5019418" cy="20158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40mA RMS </a:t>
            </a:r>
            <a:r>
              <a:rPr lang="en-US" sz="2200" i="1" kern="1200" noProof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reliable limit</a:t>
            </a:r>
            <a:endParaRPr lang="en-US" sz="2200" i="1" kern="12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25CC04F-787A-49FA-9065-69EDF439F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D839EBE-8D5F-6890-F460-55499EE42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055"/>
          <a:stretch>
            <a:fillRect/>
          </a:stretch>
        </p:blipFill>
        <p:spPr>
          <a:xfrm>
            <a:off x="7589027" y="1045175"/>
            <a:ext cx="3537777" cy="1969024"/>
          </a:xfrm>
          <a:prstGeom prst="rect">
            <a:avLst/>
          </a:prstGeom>
        </p:spPr>
      </p:pic>
      <p:pic>
        <p:nvPicPr>
          <p:cNvPr id="10" name="Image 9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62694EAB-6E65-2592-32E4-B4760E1FE0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77" t="1" r="48491" b="1"/>
          <a:stretch>
            <a:fillRect/>
          </a:stretch>
        </p:blipFill>
        <p:spPr>
          <a:xfrm>
            <a:off x="4942733" y="3328114"/>
            <a:ext cx="7134505" cy="29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7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A4BA67-837F-5B1A-33F2-EC2F3B14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9"/>
            <a:ext cx="6126480" cy="1643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noProof="0"/>
              <a:t>Signal processing simulation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Espace réservé du contenu 9" descr="Une image contenant diagramme, text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E567FDA-D244-9CC7-BAD5-6062C986B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3" t="2035" r="1" b="-2119"/>
          <a:stretch>
            <a:fillRect/>
          </a:stretch>
        </p:blipFill>
        <p:spPr>
          <a:xfrm>
            <a:off x="547273" y="2668010"/>
            <a:ext cx="11155680" cy="389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87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E370A3-DE01-E78F-9652-8312F11D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688" y="978408"/>
            <a:ext cx="502920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noProof="0"/>
              <a:t>Simulation – parameters and assumptions</a:t>
            </a:r>
          </a:p>
        </p:txBody>
      </p:sp>
      <p:pic>
        <p:nvPicPr>
          <p:cNvPr id="9" name="Espace réservé du contenu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8EBF204-F97F-02FC-CEEE-52A92665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84" r="1" b="15079"/>
          <a:stretch>
            <a:fillRect/>
          </a:stretch>
        </p:blipFill>
        <p:spPr>
          <a:xfrm>
            <a:off x="769777" y="508090"/>
            <a:ext cx="2365558" cy="2190122"/>
          </a:xfrm>
          <a:prstGeom prst="rect">
            <a:avLst/>
          </a:prstGeom>
        </p:spPr>
      </p:pic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808F9F8-3E9F-37FC-BFB7-0BB9FEB1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882" y="508089"/>
            <a:ext cx="2061317" cy="2202665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0950" y="508090"/>
            <a:ext cx="502005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4" name="Image 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492A4883-AC55-EF92-CB35-078F47DE1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68" y="3210272"/>
            <a:ext cx="5408678" cy="3135663"/>
          </a:xfrm>
          <a:prstGeom prst="rect">
            <a:avLst/>
          </a:prstGeom>
        </p:spPr>
      </p:pic>
      <p:sp>
        <p:nvSpPr>
          <p:cNvPr id="51" name="Content Placeholder 12">
            <a:extLst>
              <a:ext uri="{FF2B5EF4-FFF2-40B4-BE49-F238E27FC236}">
                <a16:creationId xmlns:a16="http://schemas.microsoft.com/office/drawing/2014/main" id="{3233AD06-0DAD-9F40-EEA8-63E98743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7688" y="2578608"/>
            <a:ext cx="5029200" cy="3767328"/>
          </a:xfrm>
        </p:spPr>
        <p:txBody>
          <a:bodyPr>
            <a:normAutofit/>
          </a:bodyPr>
          <a:lstStyle/>
          <a:p>
            <a:r>
              <a:rPr lang="en-US" noProof="0"/>
              <a:t>Parameters used to simulate the phototransistor’s output</a:t>
            </a:r>
          </a:p>
          <a:p>
            <a:r>
              <a:rPr lang="en-US" noProof="0"/>
              <a:t>Period for a wingbeat frequency of 800Hz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44492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B8186F-F05E-6D46-E1A6-FA2C4567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095744" cy="1463040"/>
          </a:xfrm>
        </p:spPr>
        <p:txBody>
          <a:bodyPr>
            <a:normAutofit/>
          </a:bodyPr>
          <a:lstStyle/>
          <a:p>
            <a:r>
              <a:rPr lang="en-US" noProof="0"/>
              <a:t>Simulation – low pass filter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DBC276-C97C-633B-BC23-257D2CCA3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709574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B88350-6CF4-0C8D-BAD9-C0175A98D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7095744" cy="3767328"/>
          </a:xfrm>
        </p:spPr>
        <p:txBody>
          <a:bodyPr>
            <a:normAutofit/>
          </a:bodyPr>
          <a:lstStyle/>
          <a:p>
            <a:r>
              <a:rPr lang="en-US" noProof="0"/>
              <a:t>Mosquitoes’ wingbeat vary between 600 and 1000Hz</a:t>
            </a:r>
          </a:p>
          <a:p>
            <a:r>
              <a:rPr lang="en-US" noProof="0"/>
              <a:t>We use a low pass filter to cut off the 20kHz signal from the LED (and some noise)</a:t>
            </a:r>
          </a:p>
          <a:p>
            <a:r>
              <a:rPr lang="en-US" noProof="0"/>
              <a:t>Cut off frequency (-3dB) of 1kHz</a:t>
            </a:r>
          </a:p>
          <a:p>
            <a:endParaRPr lang="en-US" noProof="0"/>
          </a:p>
        </p:txBody>
      </p:sp>
      <p:pic>
        <p:nvPicPr>
          <p:cNvPr id="6" name="Image 5" descr="Une image contenant texte, diagramme, Police, ligne&#10;&#10;Le contenu généré par l’IA peut être incorrect.">
            <a:extLst>
              <a:ext uri="{FF2B5EF4-FFF2-40B4-BE49-F238E27FC236}">
                <a16:creationId xmlns:a16="http://schemas.microsoft.com/office/drawing/2014/main" id="{30BD25BD-4C8D-8152-D840-728DDDD6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927" y="828863"/>
            <a:ext cx="4639322" cy="2753109"/>
          </a:xfrm>
          <a:prstGeom prst="rect">
            <a:avLst/>
          </a:prstGeom>
        </p:spPr>
      </p:pic>
      <p:pic>
        <p:nvPicPr>
          <p:cNvPr id="11" name="Image 10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83098E65-CB44-1D45-E109-82A6F262B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58" y="4182041"/>
            <a:ext cx="4046260" cy="171966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EF0E68-45E6-8B55-E18B-9618AB844896}"/>
              </a:ext>
            </a:extLst>
          </p:cNvPr>
          <p:cNvSpPr/>
          <p:nvPr/>
        </p:nvSpPr>
        <p:spPr>
          <a:xfrm>
            <a:off x="8138159" y="1504335"/>
            <a:ext cx="1121865" cy="1074273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6" name="Image 15" descr="Une image contenant capture d’écran, Caractère coloré&#10;&#10;Le contenu généré par l’IA peut être incorrect.">
            <a:extLst>
              <a:ext uri="{FF2B5EF4-FFF2-40B4-BE49-F238E27FC236}">
                <a16:creationId xmlns:a16="http://schemas.microsoft.com/office/drawing/2014/main" id="{0EBE8B17-0C73-D578-A024-2B89AA2D5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600" y="4278501"/>
            <a:ext cx="5778734" cy="246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15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56C5C09-0043-4549-B800-2101B70D6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31CED1-3DC1-280A-B522-80FA4007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23342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noProof="0"/>
              <a:t>Simulation – inverting amplifier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659E0F-24FB-DE20-18E8-FECB27D83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9" y="3578279"/>
            <a:ext cx="5214337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Voltage inverting is done to get positive voltage spikes for easier microcontroller reading</a:t>
            </a:r>
          </a:p>
          <a:p>
            <a:r>
              <a:rPr lang="en-US" noProof="0"/>
              <a:t>For stability with a high gain (1000), the amplification should be done with 2 or 3 stages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8" name="Image 7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B1D714C5-8729-7E9A-9960-FD856BA0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83" y="3578279"/>
            <a:ext cx="5594918" cy="236385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25E582A-D9A0-408B-8FB7-841383442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16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5" name="Image 4" descr="Une image contenant texte, diagramme, Police, ligne&#10;&#10;Le contenu généré par l’IA peut être incorrect.">
            <a:extLst>
              <a:ext uri="{FF2B5EF4-FFF2-40B4-BE49-F238E27FC236}">
                <a16:creationId xmlns:a16="http://schemas.microsoft.com/office/drawing/2014/main" id="{A1E90D8C-2B3D-428A-EF2C-F362F746F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79" y="420023"/>
            <a:ext cx="4639322" cy="27531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69B63B-48FD-7B1A-3D2F-698F3806704E}"/>
              </a:ext>
            </a:extLst>
          </p:cNvPr>
          <p:cNvSpPr/>
          <p:nvPr/>
        </p:nvSpPr>
        <p:spPr>
          <a:xfrm>
            <a:off x="8737944" y="448265"/>
            <a:ext cx="1441323" cy="1708887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63010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350691-F962-0083-8DB3-13B1E09E3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368296"/>
          </a:xfrm>
        </p:spPr>
        <p:txBody>
          <a:bodyPr>
            <a:normAutofit/>
          </a:bodyPr>
          <a:lstStyle/>
          <a:p>
            <a:r>
              <a:rPr lang="en-US" noProof="0"/>
              <a:t>Simulation – high pass filter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5" name="Image 4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36615D81-7A7F-C4B0-CD54-7BF8D2F8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70" y="3910138"/>
            <a:ext cx="5011957" cy="2142611"/>
          </a:xfrm>
          <a:prstGeom prst="rect">
            <a:avLst/>
          </a:prstGeom>
        </p:spPr>
      </p:pic>
      <p:pic>
        <p:nvPicPr>
          <p:cNvPr id="8" name="Image 7" descr="Une image contenant texte, diagramme, Police, ligne&#10;&#10;Le contenu généré par l’IA peut être incorrect.">
            <a:extLst>
              <a:ext uri="{FF2B5EF4-FFF2-40B4-BE49-F238E27FC236}">
                <a16:creationId xmlns:a16="http://schemas.microsoft.com/office/drawing/2014/main" id="{E1D32EC6-4809-36A2-8249-32C09A064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963" y="368757"/>
            <a:ext cx="4407868" cy="306024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938E2E-27EA-B18E-9C3E-8135E598B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68" y="3780445"/>
            <a:ext cx="4983480" cy="2569464"/>
          </a:xfrm>
        </p:spPr>
        <p:txBody>
          <a:bodyPr>
            <a:normAutofit/>
          </a:bodyPr>
          <a:lstStyle/>
          <a:p>
            <a:r>
              <a:rPr lang="en-US" noProof="0"/>
              <a:t>Used to delete the DC offset</a:t>
            </a:r>
          </a:p>
          <a:p>
            <a:r>
              <a:rPr lang="en-US"/>
              <a:t>Fc=160Hz at -3dB</a:t>
            </a:r>
            <a:endParaRPr lang="en-US" noProof="0"/>
          </a:p>
          <a:p>
            <a:r>
              <a:rPr lang="en-US" noProof="0"/>
              <a:t>Pulses are very short (0,2ms) so another step is needed before the IC 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784F5-0F41-E15F-D189-48AC5750A355}"/>
              </a:ext>
            </a:extLst>
          </p:cNvPr>
          <p:cNvSpPr/>
          <p:nvPr/>
        </p:nvSpPr>
        <p:spPr>
          <a:xfrm>
            <a:off x="9993989" y="1308112"/>
            <a:ext cx="1039102" cy="992961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32719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9E094C-52E7-5CF4-A881-B4AF2F1ED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1463040"/>
          </a:xfrm>
        </p:spPr>
        <p:txBody>
          <a:bodyPr>
            <a:normAutofit/>
          </a:bodyPr>
          <a:lstStyle/>
          <a:p>
            <a:r>
              <a:rPr lang="fr-FR"/>
              <a:t>Peak </a:t>
            </a:r>
            <a:r>
              <a:rPr lang="fr-FR" err="1"/>
              <a:t>hold</a:t>
            </a:r>
            <a:r>
              <a:rPr lang="fr-FR"/>
              <a:t> circuit</a:t>
            </a:r>
            <a:endParaRPr lang="en-US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41EEA8-7D41-BC4F-06AC-54B26976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020056" cy="3767328"/>
          </a:xfrm>
        </p:spPr>
        <p:txBody>
          <a:bodyPr>
            <a:normAutofit/>
          </a:bodyPr>
          <a:lstStyle/>
          <a:p>
            <a:r>
              <a:rPr lang="en-US" noProof="0"/>
              <a:t>To make the pulses last longer</a:t>
            </a:r>
          </a:p>
          <a:p>
            <a:r>
              <a:rPr lang="en-US"/>
              <a:t>With a Schottky diode (low voltage)</a:t>
            </a:r>
          </a:p>
          <a:p>
            <a:r>
              <a:rPr lang="en-US" noProof="0"/>
              <a:t>The voltage slowly decrease with R4</a:t>
            </a:r>
          </a:p>
          <a:p>
            <a:r>
              <a:rPr lang="en-US"/>
              <a:t>No more negative voltage thanks to the diode</a:t>
            </a:r>
            <a:endParaRPr lang="en-US" noProof="0"/>
          </a:p>
        </p:txBody>
      </p:sp>
      <p:pic>
        <p:nvPicPr>
          <p:cNvPr id="5" name="Image 4" descr="Une image contenant texte, diagramme, Police, ligne&#10;&#10;Le contenu généré par l’IA peut être incorrect.">
            <a:extLst>
              <a:ext uri="{FF2B5EF4-FFF2-40B4-BE49-F238E27FC236}">
                <a16:creationId xmlns:a16="http://schemas.microsoft.com/office/drawing/2014/main" id="{09EDFA4D-C203-C52A-C597-5B885EDD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572" r="-1" b="25832"/>
          <a:stretch>
            <a:fillRect/>
          </a:stretch>
        </p:blipFill>
        <p:spPr>
          <a:xfrm>
            <a:off x="6266046" y="508090"/>
            <a:ext cx="5417305" cy="2816002"/>
          </a:xfrm>
          <a:prstGeom prst="rect">
            <a:avLst/>
          </a:prstGeom>
        </p:spPr>
      </p:pic>
      <p:pic>
        <p:nvPicPr>
          <p:cNvPr id="6" name="Image 5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E093263E-17FC-1203-9459-044FE799E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08" r="10191" b="-2"/>
          <a:stretch>
            <a:fillRect/>
          </a:stretch>
        </p:blipFill>
        <p:spPr>
          <a:xfrm>
            <a:off x="6192676" y="3799930"/>
            <a:ext cx="5490675" cy="25460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BB7937-7902-7349-55C8-002026702207}"/>
              </a:ext>
            </a:extLst>
          </p:cNvPr>
          <p:cNvSpPr/>
          <p:nvPr/>
        </p:nvSpPr>
        <p:spPr>
          <a:xfrm>
            <a:off x="7864880" y="2276895"/>
            <a:ext cx="1644879" cy="850353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58967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71C6BF-2F16-9FF4-B632-E906F67D2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0592"/>
          </a:xfrm>
        </p:spPr>
        <p:txBody>
          <a:bodyPr>
            <a:normAutofit/>
          </a:bodyPr>
          <a:lstStyle/>
          <a:p>
            <a:r>
              <a:rPr lang="en-US"/>
              <a:t>Comparator with hysteresis (Schmitt trigger)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612A81-B7F0-8C73-8B8F-A38A83E09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978408"/>
            <a:ext cx="4946904" cy="245059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To get binaries output for the IC with full amplitude (here +5V)</a:t>
            </a:r>
          </a:p>
          <a:p>
            <a:r>
              <a:rPr lang="en-US" err="1"/>
              <a:t>V</a:t>
            </a:r>
            <a:r>
              <a:rPr lang="en-US" baseline="-25000" err="1"/>
              <a:t>ref</a:t>
            </a:r>
            <a:r>
              <a:rPr lang="en-US"/>
              <a:t>=200mV if </a:t>
            </a:r>
            <a:r>
              <a:rPr lang="en-US" err="1"/>
              <a:t>V</a:t>
            </a:r>
            <a:r>
              <a:rPr lang="en-US" baseline="-25000" err="1"/>
              <a:t>out</a:t>
            </a:r>
            <a:r>
              <a:rPr lang="en-US"/>
              <a:t>=0V</a:t>
            </a:r>
          </a:p>
          <a:p>
            <a:r>
              <a:rPr lang="en-US" err="1"/>
              <a:t>V</a:t>
            </a:r>
            <a:r>
              <a:rPr lang="en-US" baseline="-25000" err="1"/>
              <a:t>ref</a:t>
            </a:r>
            <a:r>
              <a:rPr lang="en-US"/>
              <a:t> = 220mV if </a:t>
            </a:r>
            <a:r>
              <a:rPr lang="en-US" err="1"/>
              <a:t>V</a:t>
            </a:r>
            <a:r>
              <a:rPr lang="en-US" baseline="-25000" err="1"/>
              <a:t>out</a:t>
            </a:r>
            <a:r>
              <a:rPr lang="en-US"/>
              <a:t>=5V</a:t>
            </a:r>
          </a:p>
          <a:p>
            <a:r>
              <a:rPr lang="en-US"/>
              <a:t>Hysteresis of 20mV to prevents ripple</a:t>
            </a:r>
          </a:p>
          <a:p>
            <a:r>
              <a:rPr lang="en-US"/>
              <a:t>Resistor bridge on </a:t>
            </a:r>
            <a:r>
              <a:rPr lang="en-US" err="1"/>
              <a:t>LTSpice</a:t>
            </a:r>
            <a:r>
              <a:rPr lang="en-US"/>
              <a:t> but in “real life” we would use a true voltage reference (Zener)</a:t>
            </a:r>
          </a:p>
        </p:txBody>
      </p:sp>
      <p:pic>
        <p:nvPicPr>
          <p:cNvPr id="5" name="Image 4" descr="Une image contenant texte, diagramme, Police, ligne&#10;&#10;Le contenu généré par l’IA peut être incorrect.">
            <a:extLst>
              <a:ext uri="{FF2B5EF4-FFF2-40B4-BE49-F238E27FC236}">
                <a16:creationId xmlns:a16="http://schemas.microsoft.com/office/drawing/2014/main" id="{1E1C1BA2-5B3D-0E68-57AA-0BA790B97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572" r="-1" b="25832"/>
          <a:stretch>
            <a:fillRect/>
          </a:stretch>
        </p:blipFill>
        <p:spPr>
          <a:xfrm>
            <a:off x="508996" y="3726680"/>
            <a:ext cx="5038931" cy="2619324"/>
          </a:xfrm>
          <a:prstGeom prst="rect">
            <a:avLst/>
          </a:prstGeom>
        </p:spPr>
      </p:pic>
      <p:pic>
        <p:nvPicPr>
          <p:cNvPr id="7" name="Image 6" descr="Une image contenant capture d’écran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4364A7CC-8E13-5D7D-FF31-26CEB96FD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027" y="3795758"/>
            <a:ext cx="6036087" cy="25502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6950D3-6630-4722-BF3B-AA05AA1106D2}"/>
              </a:ext>
            </a:extLst>
          </p:cNvPr>
          <p:cNvSpPr/>
          <p:nvPr/>
        </p:nvSpPr>
        <p:spPr>
          <a:xfrm>
            <a:off x="3341068" y="3750039"/>
            <a:ext cx="2114042" cy="2065545"/>
          </a:xfrm>
          <a:prstGeom prst="rect">
            <a:avLst/>
          </a:prstGeom>
          <a:noFill/>
          <a:ln w="19050" cap="flat" cmpd="sng" algn="ctr">
            <a:solidFill>
              <a:schemeClr val="accent4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982053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FDEFCEDCA1E469A63843155711D0D" ma:contentTypeVersion="10" ma:contentTypeDescription="Crée un document." ma:contentTypeScope="" ma:versionID="9aedbb803c76771456d5f5b930e0002c">
  <xsd:schema xmlns:xsd="http://www.w3.org/2001/XMLSchema" xmlns:xs="http://www.w3.org/2001/XMLSchema" xmlns:p="http://schemas.microsoft.com/office/2006/metadata/properties" xmlns:ns2="aaff0aaf-b348-4d39-b3f2-12b121aebb76" xmlns:ns3="5a5157d1-0034-44ff-8e50-ecd828a301c9" targetNamespace="http://schemas.microsoft.com/office/2006/metadata/properties" ma:root="true" ma:fieldsID="a27ed3a2d090c0b781bf46c6004a1d6c" ns2:_="" ns3:_="">
    <xsd:import namespace="aaff0aaf-b348-4d39-b3f2-12b121aebb76"/>
    <xsd:import namespace="5a5157d1-0034-44ff-8e50-ecd828a301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ff0aaf-b348-4d39-b3f2-12b121aebb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a337c0f8-57ca-4de5-b31c-15c7ec7d57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5157d1-0034-44ff-8e50-ecd828a301c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439c80-be29-49ae-9f35-d6bff6789eea}" ma:internalName="TaxCatchAll" ma:showField="CatchAllData" ma:web="5a5157d1-0034-44ff-8e50-ecd828a301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5157d1-0034-44ff-8e50-ecd828a301c9" xsi:nil="true"/>
    <lcf76f155ced4ddcb4097134ff3c332f xmlns="aaff0aaf-b348-4d39-b3f2-12b121aebb7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B11906-3A57-43DF-BBE5-CAC04C451208}">
  <ds:schemaRefs>
    <ds:schemaRef ds:uri="5a5157d1-0034-44ff-8e50-ecd828a301c9"/>
    <ds:schemaRef ds:uri="aaff0aaf-b348-4d39-b3f2-12b121aebb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1C8C0A5-98BD-466E-A81D-B099B226525C}">
  <ds:schemaRefs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5a5157d1-0034-44ff-8e50-ecd828a301c9"/>
    <ds:schemaRef ds:uri="http://schemas.microsoft.com/office/infopath/2007/PartnerControls"/>
    <ds:schemaRef ds:uri="http://purl.org/dc/dcmitype/"/>
    <ds:schemaRef ds:uri="aaff0aaf-b348-4d39-b3f2-12b121aebb76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B8C8B07-6121-43F3-A49E-2067A138CE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Grand écran</PresentationFormat>
  <Paragraphs>64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GestaltVTI</vt:lpstr>
      <vt:lpstr>Mosquitoes' wingbeat analysis</vt:lpstr>
      <vt:lpstr>Use case of the product</vt:lpstr>
      <vt:lpstr>System requirements</vt:lpstr>
      <vt:lpstr>System global view</vt:lpstr>
      <vt:lpstr>First proof of concept</vt:lpstr>
      <vt:lpstr>Second PoC</vt:lpstr>
      <vt:lpstr>PoC results</vt:lpstr>
      <vt:lpstr>Simulation – UV LED circuit</vt:lpstr>
      <vt:lpstr>The 555 precision timer IC</vt:lpstr>
      <vt:lpstr>Capacitor charge and discharge</vt:lpstr>
      <vt:lpstr>LED current</vt:lpstr>
      <vt:lpstr>Signal processing simulation</vt:lpstr>
      <vt:lpstr>Simulation – parameters and assumptions</vt:lpstr>
      <vt:lpstr>Simulation – low pass filter</vt:lpstr>
      <vt:lpstr>Simulation – inverting amplifier</vt:lpstr>
      <vt:lpstr>Simulation – high pass filter</vt:lpstr>
      <vt:lpstr>Peak hold circuit</vt:lpstr>
      <vt:lpstr>Comparator with hysteresis (Schmitt trigger)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BERNARD</dc:creator>
  <cp:lastModifiedBy>François BERNARD</cp:lastModifiedBy>
  <cp:revision>2</cp:revision>
  <dcterms:created xsi:type="dcterms:W3CDTF">2026-01-08T13:35:38Z</dcterms:created>
  <dcterms:modified xsi:type="dcterms:W3CDTF">2026-06-03T16:38:04Z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0x01010072BFDEFCEDCA1E469A63843155711D0D</vt:lpwstr>
  </property>
  <property fmtid="{D5CDD505-2E9C-101B-9397-08002B2CF9AE}" pid="3" name="MediaServiceImageTags">
    <vt:lpwstr/>
  </property>
</Properties>
</file>